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6D56F1-F474-46DF-AD5E-DD773ED45A88}" v="76" dt="2026-02-14T20:19:05.0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35" d="100"/>
          <a:sy n="35" d="100"/>
        </p:scale>
        <p:origin x="1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827033-6CA0-4C0E-B7A1-9AB21F6CBF5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F2CE9-3A6A-46EA-8243-89C534338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73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173CE-FD93-A61A-FF19-FC1B5AE5C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695E4-48F9-EF7E-9A67-546BE77A6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C38BD4-E756-EFEB-60AF-8D5F2403D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C24B2-AE52-F290-E0CF-6734D8BD2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3F2CE9-3A6A-46EA-8243-89C534338F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106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D1910-084D-4EBC-64A5-4C2106F1D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11153-D58F-0D5B-B703-DF6D88596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3D21F6-819B-0D32-FAC1-643AC0CBB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F81DD-C327-BA9C-7271-0F9CD63DF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3F2CE9-3A6A-46EA-8243-89C534338F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81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DB381-E386-5AFD-926E-D52C49128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BAB4A-6367-1EBC-4DEE-A052B5C39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789CC-E4E0-4C3E-966C-0367C6C7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CCCB-EF01-43A1-B63C-05C71431F62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180E9-4EF6-EB3F-6874-6151672A7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11C68-53AC-94AD-57A7-106DEFE8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BA0D-7CBC-403A-A937-C5D2F2D9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4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DFCA-5870-8024-D0A1-B01EBDBE2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9F72C-B0CE-45D8-0936-8A620FAE8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4F089-1214-F1C6-8916-9D8C4F84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CCCB-EF01-43A1-B63C-05C71431F62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15EB1-E16D-8172-AF47-7B484AD4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70736-4EEF-2095-3DDF-25633403D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BA0D-7CBC-403A-A937-C5D2F2D9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55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9AC30-7E7E-25EA-72AD-E102C3DC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63E76-A042-162E-5BEE-2FD7FB72D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714BF-1D06-DA64-5D87-1FC497DA1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CCCB-EF01-43A1-B63C-05C71431F62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39E6C-5D6B-FF1E-12E5-CEC42C780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E8CEA-1EF0-E7D6-2797-EF52F8A9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BA0D-7CBC-403A-A937-C5D2F2D9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886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8D707-4B9A-8D39-9261-5E5368B1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1CC1E-578F-4A0D-A5CC-208917026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84B27-179A-7E6B-1C47-89E6BD308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53F6C-BD43-1CFD-E9ED-5D065A126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CCCB-EF01-43A1-B63C-05C71431F62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74AB4-3ADE-0103-8AC0-78F87BE0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73747-C9FC-25B6-9A87-14B538DDE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BA0D-7CBC-403A-A937-C5D2F2D9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87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C0A28-3E6A-9F47-4577-58BDC79B4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04352-372D-BB2D-8019-C6631E2FC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D56F6-9257-6B5E-F8D2-A9BCBF7A1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691BD9-D49D-656D-24D9-D44977D153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55046B-800A-B9B6-8BCC-F55D0E1C8B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AC4F7D-96E0-220B-B184-966074A8A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CCCB-EF01-43A1-B63C-05C71431F62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D053B1-358C-D6B1-2FB7-14C8D881B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07988-B65B-5563-0854-6956D73A1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BA0D-7CBC-403A-A937-C5D2F2D9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52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AEBE1-7E05-F357-E090-A3143093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1D63ED-60C7-04B1-66FF-F3E4B5B06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CCCB-EF01-43A1-B63C-05C71431F62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A72E36-3974-0EFA-3A94-92B7CD6A3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CD7F5-B0A8-D1FB-0F62-AFCAD475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BA0D-7CBC-403A-A937-C5D2F2D9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36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20C010-3B6F-536A-2009-1A54FAF79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CCCB-EF01-43A1-B63C-05C71431F62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135BF7-8810-48D0-F9A4-E78706D25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F3B2B-2AD3-231F-D925-AD1F31319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BA0D-7CBC-403A-A937-C5D2F2D9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07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5229B-6BA1-8B60-4D85-EC7876D6B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3DC00-2927-9927-4772-1D9EADDA0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7EE4E-A4A5-4ECF-6449-3F5D9C8BA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3488B-CC71-324B-06D8-5590BE1B2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CCCB-EF01-43A1-B63C-05C71431F62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17A39-D59F-0200-EB1C-B8430EF3B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4ED0D-E136-5B00-F7F4-5691B70F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BA0D-7CBC-403A-A937-C5D2F2D9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7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6C6E8-C1B5-35C1-242E-F551583C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147E5A-A0D9-7F99-D019-AF7E394976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907D3-BA39-3570-6F17-55D4E0975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B0C75-5640-79A5-5069-30B46481C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CCCB-EF01-43A1-B63C-05C71431F62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B716E-9E4C-06E1-D4C8-65DF77FD1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CF19F-65F5-1222-0E39-64CA05CD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BA0D-7CBC-403A-A937-C5D2F2D9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92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5DBA9-619C-3D87-E953-9EF2CBFFD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63F807-81B1-68BB-BFC5-514F6D480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E3584-D61E-64F4-62E1-EAE2BE93F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CCCB-EF01-43A1-B63C-05C71431F62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77B15-C0AC-B8D5-8D15-C4CC97DA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38024-67EF-BE6C-B45C-0857180DC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BA0D-7CBC-403A-A937-C5D2F2D9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8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1F5C0A-2073-BE17-FF10-36B3B7356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C485E6-F1CA-9F80-02FB-047093122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B630A-94E7-9C86-1576-9A07996D6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CCCB-EF01-43A1-B63C-05C71431F62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826A4-71EA-7819-65EA-E4FDC4635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F0A58-D41E-16E2-B939-02F2DD25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EBA0D-7CBC-403A-A937-C5D2F2D9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5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AAF27-A8F1-83BC-5699-6B470AB04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7B1C2-73BF-4EC9-E3BF-E32CBD573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80E70-EB02-F42E-BAC2-5FA7AB2EA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D5CCCB-EF01-43A1-B63C-05C71431F62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FEDBC-EF82-124D-4901-33B0C0DC4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A04A4-5934-B6CF-6B00-DECF5F9F1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EBA0D-7CBC-403A-A937-C5D2F2D9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51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B7BEE-7833-A56D-64BF-43947400C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4D0F38A-D45C-362E-3B7C-179CE06997C8}"/>
              </a:ext>
            </a:extLst>
          </p:cNvPr>
          <p:cNvGrpSpPr/>
          <p:nvPr/>
        </p:nvGrpSpPr>
        <p:grpSpPr>
          <a:xfrm>
            <a:off x="-11178" y="11972"/>
            <a:ext cx="12203178" cy="6846028"/>
            <a:chOff x="-11178" y="0"/>
            <a:chExt cx="12203178" cy="6846028"/>
          </a:xfrm>
          <a:solidFill>
            <a:schemeClr val="bg1">
              <a:lumMod val="95000"/>
            </a:schemeClr>
          </a:solidFill>
          <a:effectLst>
            <a:outerShdw blurRad="50800" dist="50800" dir="5400000" algn="ctr" rotWithShape="0">
              <a:schemeClr val="bg1"/>
            </a:outerShdw>
          </a:effectLst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40186C26-6614-C05B-B628-8618FFBA4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00" r="14762" b="13187"/>
            <a:stretch>
              <a:fillRect/>
            </a:stretch>
          </p:blipFill>
          <p:spPr>
            <a:xfrm>
              <a:off x="624116" y="11972"/>
              <a:ext cx="5196113" cy="2147284"/>
            </a:xfrm>
            <a:prstGeom prst="rect">
              <a:avLst/>
            </a:prstGeom>
            <a:grpFill/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7388911D-4757-118C-B1DC-F337FDBA2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78" r="13163" b="15805"/>
            <a:stretch>
              <a:fillRect/>
            </a:stretch>
          </p:blipFill>
          <p:spPr>
            <a:xfrm>
              <a:off x="6462449" y="4755439"/>
              <a:ext cx="5139258" cy="2090589"/>
            </a:xfrm>
            <a:prstGeom prst="rect">
              <a:avLst/>
            </a:prstGeom>
            <a:grpFill/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9D177A4-AEBF-25D1-3902-AE733C218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38" r="13216"/>
            <a:stretch>
              <a:fillRect/>
            </a:stretch>
          </p:blipFill>
          <p:spPr>
            <a:xfrm>
              <a:off x="8599637" y="2728029"/>
              <a:ext cx="3592363" cy="1673309"/>
            </a:xfrm>
            <a:prstGeom prst="rect">
              <a:avLst/>
            </a:prstGeom>
            <a:grpFill/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53C14B39-1581-A535-65C4-64A2F3F1F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56" r="11140" b="13187"/>
            <a:stretch>
              <a:fillRect/>
            </a:stretch>
          </p:blipFill>
          <p:spPr>
            <a:xfrm>
              <a:off x="780757" y="4552311"/>
              <a:ext cx="5600855" cy="2293717"/>
            </a:xfrm>
            <a:prstGeom prst="rect">
              <a:avLst/>
            </a:prstGeom>
            <a:grpFill/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A71199E-8EA0-4453-4554-898D1F5B7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78" r="14124"/>
            <a:stretch>
              <a:fillRect/>
            </a:stretch>
          </p:blipFill>
          <p:spPr>
            <a:xfrm>
              <a:off x="6310125" y="0"/>
              <a:ext cx="4983193" cy="2413001"/>
            </a:xfrm>
            <a:prstGeom prst="rect">
              <a:avLst/>
            </a:prstGeom>
            <a:grpFill/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A5C71D1-D010-DEFE-79F6-220A8E7D7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38" r="13216"/>
            <a:stretch>
              <a:fillRect/>
            </a:stretch>
          </p:blipFill>
          <p:spPr>
            <a:xfrm>
              <a:off x="4299818" y="2804878"/>
              <a:ext cx="3592363" cy="1673309"/>
            </a:xfrm>
            <a:prstGeom prst="rect">
              <a:avLst/>
            </a:prstGeom>
            <a:grpFill/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CAD96E2-59AC-663D-3898-296241659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38" r="13216"/>
            <a:stretch>
              <a:fillRect/>
            </a:stretch>
          </p:blipFill>
          <p:spPr>
            <a:xfrm>
              <a:off x="-11178" y="2834536"/>
              <a:ext cx="3592363" cy="1673309"/>
            </a:xfrm>
            <a:prstGeom prst="rect">
              <a:avLst/>
            </a:prstGeom>
            <a:grpFill/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7991549-12E8-06D4-D0AC-C6B3A85E7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78" r="75270"/>
            <a:stretch>
              <a:fillRect/>
            </a:stretch>
          </p:blipFill>
          <p:spPr>
            <a:xfrm>
              <a:off x="11440925" y="11972"/>
              <a:ext cx="751075" cy="2413001"/>
            </a:xfrm>
            <a:prstGeom prst="rect">
              <a:avLst/>
            </a:prstGeom>
            <a:grpFill/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303899E-499C-4348-E124-2851A5553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78" r="74841" b="17599"/>
            <a:stretch>
              <a:fillRect/>
            </a:stretch>
          </p:blipFill>
          <p:spPr>
            <a:xfrm>
              <a:off x="11411243" y="4755439"/>
              <a:ext cx="780757" cy="1988337"/>
            </a:xfrm>
            <a:prstGeom prst="rect">
              <a:avLst/>
            </a:prstGeom>
            <a:grpFill/>
          </p:spPr>
        </p:pic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200AAFA-415F-456A-21D7-2EED459754CD}"/>
              </a:ext>
            </a:extLst>
          </p:cNvPr>
          <p:cNvSpPr/>
          <p:nvPr/>
        </p:nvSpPr>
        <p:spPr>
          <a:xfrm>
            <a:off x="76999" y="813586"/>
            <a:ext cx="3941327" cy="1423320"/>
          </a:xfrm>
          <a:prstGeom prst="roundRect">
            <a:avLst/>
          </a:prstGeom>
          <a:solidFill>
            <a:schemeClr val="bg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i="1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Unique Cross-Domain Ecosystem</a:t>
            </a:r>
            <a:r>
              <a:rPr lang="en-US" sz="1000" i="1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What sets AMT Systems Engineering SARL apart is our ability to break down silos. Traditional firms often specialize in just one area. We offer a unique selling point: a </a:t>
            </a:r>
            <a:r>
              <a:rPr lang="en-US" sz="1000" b="1" i="1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cross-connection between Hardware Engineering, Software Engineering, and Mechanical Engineering. </a:t>
            </a:r>
            <a:r>
              <a:rPr lang="en-US" sz="1000" i="1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</a:t>
            </a:r>
            <a:r>
              <a:rPr lang="en-US" sz="1000" b="1" i="1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  <a:r>
              <a:rPr lang="en-US" sz="1000" i="1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into this ecosystem, we link and enhance all these domains, delivering smart, innovative solutions from a single source.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714A61-0AB2-747C-D5CF-42F64A1C5073}"/>
              </a:ext>
            </a:extLst>
          </p:cNvPr>
          <p:cNvSpPr/>
          <p:nvPr/>
        </p:nvSpPr>
        <p:spPr>
          <a:xfrm>
            <a:off x="4134036" y="806760"/>
            <a:ext cx="3932286" cy="1423320"/>
          </a:xfrm>
          <a:prstGeom prst="roundRect">
            <a:avLst/>
          </a:prstGeom>
          <a:solidFill>
            <a:schemeClr val="bg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i="1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smart technology without the incorporation of IT-solutions. In today's rapidly advancing technological landscape, integrating Information Technology (IT) is crucial for creating smart and efficient solutions. At AMT Systems-Engineering SARL, we provide IT services that empower  the uniqueness of  potentials of your business, then making you be successful in the data-driven world.  Our IT solutions enable you to access, analyze, and interpret vast amounts of data. This insight allows for more informed decision-making, optimizing operations and strategies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DB338CA-C749-22CB-D5F6-D3B73452E85A}"/>
              </a:ext>
            </a:extLst>
          </p:cNvPr>
          <p:cNvSpPr/>
          <p:nvPr/>
        </p:nvSpPr>
        <p:spPr>
          <a:xfrm>
            <a:off x="8179320" y="805325"/>
            <a:ext cx="3932286" cy="1423320"/>
          </a:xfrm>
          <a:prstGeom prst="roundRect">
            <a:avLst>
              <a:gd name="adj" fmla="val 14638"/>
            </a:avLst>
          </a:prstGeom>
          <a:solidFill>
            <a:schemeClr val="bg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companies and institutions  increasingly focus on their core</a:t>
            </a:r>
          </a:p>
          <a:p>
            <a:pPr algn="ctr"/>
            <a:r>
              <a:rPr lang="en-US" sz="9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competencies, the demand for outsourcing secondary activities  like spare part procurement continues to rise. AMT Systems-Engineering SARL, a global player with associates worldwide, offers these</a:t>
            </a:r>
          </a:p>
          <a:p>
            <a:pPr algn="ctr"/>
            <a:r>
              <a:rPr lang="en-US" sz="9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 to its customers. Connecting  our business partners with potential suppliers or managing supplies on their behalf is a key aspect of our operations.</a:t>
            </a:r>
          </a:p>
          <a:p>
            <a:pPr algn="ctr"/>
            <a:r>
              <a:rPr lang="en-US" sz="9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Feel free to reach out: you have no risk in contacting us, only</a:t>
            </a:r>
          </a:p>
          <a:p>
            <a:pPr algn="ctr"/>
            <a:r>
              <a:rPr lang="en-US" sz="9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opportunity you might want to pursue!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5B8459-4583-EF22-683C-887A691F5838}"/>
              </a:ext>
            </a:extLst>
          </p:cNvPr>
          <p:cNvSpPr txBox="1"/>
          <p:nvPr/>
        </p:nvSpPr>
        <p:spPr>
          <a:xfrm>
            <a:off x="3363310" y="98041"/>
            <a:ext cx="5598222" cy="368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b="1" kern="140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AMT SYSTEMS-ENGINEERING  SERVICES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709DFB33-0E62-DC60-F67A-98D0E2632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1291"/>
            <a:ext cx="67266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  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5E3304C-58CF-E197-2266-EA62319DE7DB}"/>
              </a:ext>
            </a:extLst>
          </p:cNvPr>
          <p:cNvSpPr/>
          <p:nvPr/>
        </p:nvSpPr>
        <p:spPr>
          <a:xfrm>
            <a:off x="8238701" y="2356978"/>
            <a:ext cx="3872905" cy="2974330"/>
          </a:xfrm>
          <a:prstGeom prst="roundRect">
            <a:avLst>
              <a:gd name="adj" fmla="val 13240"/>
            </a:avLst>
          </a:prstGeom>
          <a:solidFill>
            <a:schemeClr val="tx2">
              <a:lumMod val="75000"/>
              <a:lumOff val="2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3050" lvl="0" indent="-2730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i="1" kern="1400" dirty="0">
                <a:solidFill>
                  <a:schemeClr val="bg1"/>
                </a:solidFill>
                <a:latin typeface="Tahoma" panose="020B0604030504040204" pitchFamily="34" charset="0"/>
              </a:rPr>
              <a:t>Procurement services:</a:t>
            </a:r>
          </a:p>
          <a:p>
            <a:pPr marL="273050" lvl="0" indent="-27305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5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2438" indent="-273050" algn="just" fontAlgn="base">
              <a:lnSpc>
                <a:spcPct val="139000"/>
              </a:lnSpc>
              <a:spcBef>
                <a:spcPct val="0"/>
              </a:spcBef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Customer needs Identification &amp; Specification</a:t>
            </a:r>
          </a:p>
          <a:p>
            <a:pPr marL="452438" indent="-273050" algn="just" fontAlgn="base">
              <a:lnSpc>
                <a:spcPct val="139000"/>
              </a:lnSpc>
              <a:spcBef>
                <a:spcPct val="0"/>
              </a:spcBef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Supplier Identification &amp; Selection</a:t>
            </a:r>
          </a:p>
          <a:p>
            <a:pPr marL="452438" indent="-273050" algn="just" fontAlgn="base">
              <a:lnSpc>
                <a:spcPct val="139000"/>
              </a:lnSpc>
              <a:spcBef>
                <a:spcPct val="0"/>
              </a:spcBef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Supplier Relationship Management.</a:t>
            </a:r>
          </a:p>
          <a:p>
            <a:pPr marL="452438" indent="-273050" algn="just" fontAlgn="base">
              <a:lnSpc>
                <a:spcPct val="139000"/>
              </a:lnSpc>
              <a:spcBef>
                <a:spcPct val="0"/>
              </a:spcBef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 Risk Management in procurement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B9DBDBA-D74B-052B-358B-62DC5B403773}"/>
              </a:ext>
            </a:extLst>
          </p:cNvPr>
          <p:cNvSpPr/>
          <p:nvPr/>
        </p:nvSpPr>
        <p:spPr>
          <a:xfrm>
            <a:off x="8238701" y="5428647"/>
            <a:ext cx="3872905" cy="1318525"/>
          </a:xfrm>
          <a:prstGeom prst="roundRect">
            <a:avLst>
              <a:gd name="adj" fmla="val 15182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 algn="just">
              <a:lnSpc>
                <a:spcPct val="139000"/>
              </a:lnSpc>
              <a:spcAft>
                <a:spcPts val="900"/>
              </a:spcAft>
            </a:pPr>
            <a:r>
              <a:rPr lang="en-US" sz="1600" b="1" i="1" kern="14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</a:rPr>
              <a:t>Supply management:</a:t>
            </a:r>
            <a:endParaRPr lang="en-US" sz="1200" b="1" kern="1400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</a:endParaRPr>
          </a:p>
          <a:p>
            <a:pPr marL="452438" lvl="0" indent="-273050" algn="just" fontAlgn="base">
              <a:lnSpc>
                <a:spcPct val="139000"/>
              </a:lnSpc>
              <a:spcBef>
                <a:spcPct val="0"/>
              </a:spcBef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altLang="en-US" sz="1200" b="1" kern="1400" dirty="0">
                <a:solidFill>
                  <a:srgbClr val="000000"/>
                </a:solidFill>
                <a:latin typeface="Tahoma" panose="020B0604030504040204" pitchFamily="34" charset="0"/>
              </a:rPr>
              <a:t>Inventory Management</a:t>
            </a:r>
          </a:p>
          <a:p>
            <a:pPr marL="452438" lvl="0" indent="-273050" algn="just" fontAlgn="base">
              <a:lnSpc>
                <a:spcPct val="139000"/>
              </a:lnSpc>
              <a:spcBef>
                <a:spcPct val="0"/>
              </a:spcBef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altLang="en-US" sz="1200" b="1" kern="1400" dirty="0">
                <a:solidFill>
                  <a:srgbClr val="000000"/>
                </a:solidFill>
                <a:latin typeface="Tahoma" panose="020B0604030504040204" pitchFamily="34" charset="0"/>
              </a:rPr>
              <a:t>Supply Chain Optimization</a:t>
            </a:r>
            <a:endParaRPr lang="en-US" sz="1200" b="1" kern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3791FE1-6616-E0C2-EB8D-6EC1902D7AB6}"/>
              </a:ext>
            </a:extLst>
          </p:cNvPr>
          <p:cNvSpPr/>
          <p:nvPr/>
        </p:nvSpPr>
        <p:spPr>
          <a:xfrm>
            <a:off x="4192368" y="4823310"/>
            <a:ext cx="3813523" cy="1932437"/>
          </a:xfrm>
          <a:prstGeom prst="roundRect">
            <a:avLst>
              <a:gd name="adj" fmla="val 15182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39000"/>
              </a:lnSpc>
              <a:spcAft>
                <a:spcPts val="900"/>
              </a:spcAft>
            </a:pPr>
            <a:r>
              <a:rPr lang="en-US" sz="1600" b="1" i="1" kern="14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</a:rPr>
              <a:t>Data Engineering &amp; Analytics:</a:t>
            </a:r>
            <a:endParaRPr lang="en-US" sz="1600" i="1" kern="1400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</a:endParaRP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rgbClr val="000000"/>
                </a:solidFill>
                <a:latin typeface="Tahoma" panose="020B0604030504040204" pitchFamily="34" charset="0"/>
              </a:rPr>
              <a:t>Data acquisition and transformation </a:t>
            </a: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rgbClr val="000000"/>
                </a:solidFill>
                <a:latin typeface="Tahoma" panose="020B0604030504040204" pitchFamily="34" charset="0"/>
              </a:rPr>
              <a:t>Data analysis</a:t>
            </a:r>
            <a:r>
              <a:rPr lang="en-US" sz="1200" kern="1400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rgbClr val="000000"/>
                </a:solidFill>
                <a:latin typeface="Tahoma" panose="020B0604030504040204" pitchFamily="34" charset="0"/>
              </a:rPr>
              <a:t>Data modeling</a:t>
            </a:r>
            <a:endParaRPr lang="en-US" sz="1050" kern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13F3B50-5D61-DFC7-C086-A4401B88FA91}"/>
              </a:ext>
            </a:extLst>
          </p:cNvPr>
          <p:cNvSpPr/>
          <p:nvPr/>
        </p:nvSpPr>
        <p:spPr>
          <a:xfrm>
            <a:off x="4192368" y="2368296"/>
            <a:ext cx="3813523" cy="2357675"/>
          </a:xfrm>
          <a:prstGeom prst="roundRect">
            <a:avLst>
              <a:gd name="adj" fmla="val 15182"/>
            </a:avLst>
          </a:prstGeom>
          <a:solidFill>
            <a:schemeClr val="tx2">
              <a:lumMod val="75000"/>
              <a:lumOff val="2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39000"/>
              </a:lnSpc>
              <a:spcAft>
                <a:spcPts val="900"/>
              </a:spcAft>
            </a:pPr>
            <a:r>
              <a:rPr lang="en-US" sz="1600" b="1" i="1" kern="1400" dirty="0">
                <a:solidFill>
                  <a:schemeClr val="bg1"/>
                </a:solidFill>
                <a:latin typeface="Tahoma" panose="020B0604030504040204" pitchFamily="34" charset="0"/>
              </a:rPr>
              <a:t>Web &amp; Mobile App Design</a:t>
            </a:r>
            <a:r>
              <a:rPr lang="en-US" sz="16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:</a:t>
            </a:r>
            <a:endParaRPr lang="en-US" sz="1600" kern="14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Mobile App Design</a:t>
            </a: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Embedded SW design</a:t>
            </a:r>
            <a:endParaRPr lang="en-US" sz="1200" kern="14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Web App Design</a:t>
            </a:r>
            <a:endParaRPr lang="en-US" sz="1200" kern="1400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DEDAA20-94C4-5933-8A46-BA1AA1D519B4}"/>
              </a:ext>
            </a:extLst>
          </p:cNvPr>
          <p:cNvSpPr/>
          <p:nvPr/>
        </p:nvSpPr>
        <p:spPr>
          <a:xfrm>
            <a:off x="133986" y="4392087"/>
            <a:ext cx="3899297" cy="2363659"/>
          </a:xfrm>
          <a:prstGeom prst="roundRect">
            <a:avLst>
              <a:gd name="adj" fmla="val 15182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600" b="1" i="1" kern="14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</a:rPr>
              <a:t>Systems-Engineering services: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sz="600" b="1" i="1" kern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rgbClr val="000000"/>
                </a:solidFill>
                <a:latin typeface="Tahoma" panose="020B0604030504040204" pitchFamily="34" charset="0"/>
              </a:rPr>
              <a:t>Requirement engineering</a:t>
            </a: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rgbClr val="000000"/>
                </a:solidFill>
                <a:latin typeface="Tahoma" panose="020B0604030504040204" pitchFamily="34" charset="0"/>
              </a:rPr>
              <a:t>Architecture Design incl. technical implementation in HW /SW</a:t>
            </a: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rgbClr val="000000"/>
                </a:solidFill>
                <a:latin typeface="Tahoma" panose="020B0604030504040204" pitchFamily="34" charset="0"/>
              </a:rPr>
              <a:t>Verification and validation50</a:t>
            </a: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endParaRPr lang="en-US" sz="1200" b="1" kern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EBEFC71-82BE-B089-A19E-0A5112D1D7CF}"/>
              </a:ext>
            </a:extLst>
          </p:cNvPr>
          <p:cNvSpPr/>
          <p:nvPr/>
        </p:nvSpPr>
        <p:spPr>
          <a:xfrm>
            <a:off x="133986" y="2362051"/>
            <a:ext cx="3899297" cy="1906553"/>
          </a:xfrm>
          <a:prstGeom prst="roundRect">
            <a:avLst>
              <a:gd name="adj" fmla="val 15182"/>
            </a:avLst>
          </a:prstGeom>
          <a:solidFill>
            <a:schemeClr val="tx2">
              <a:lumMod val="75000"/>
              <a:lumOff val="2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600" b="1" i="1" kern="1400" dirty="0">
                <a:solidFill>
                  <a:schemeClr val="bg1"/>
                </a:solidFill>
                <a:latin typeface="Tahoma" panose="020B0604030504040204" pitchFamily="34" charset="0"/>
              </a:rPr>
              <a:t>Prototyping, reverse engineering:</a:t>
            </a:r>
            <a:endParaRPr lang="en-US" sz="1600" b="1" kern="14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endParaRPr lang="en-US" sz="500" b="1" kern="14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CAD-modelling </a:t>
            </a: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3D-Printing and 3D scanning</a:t>
            </a:r>
            <a:endParaRPr lang="en-US" sz="1200" kern="14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HW-Layout design &amp;</a:t>
            </a:r>
            <a:r>
              <a:rPr lang="en-US" sz="1200" kern="1400" dirty="0">
                <a:solidFill>
                  <a:schemeClr val="bg1"/>
                </a:solidFill>
                <a:latin typeface="Tahoma" panose="020B0604030504040204" pitchFamily="34" charset="0"/>
              </a:rPr>
              <a:t> </a:t>
            </a: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PCB prototyping.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5F5504-843E-1E59-8FC6-03AFB66659DF}"/>
              </a:ext>
            </a:extLst>
          </p:cNvPr>
          <p:cNvSpPr txBox="1"/>
          <p:nvPr/>
        </p:nvSpPr>
        <p:spPr>
          <a:xfrm>
            <a:off x="133986" y="430692"/>
            <a:ext cx="7786838" cy="3069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indent="0" algn="ctr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b="1" i="1" kern="140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Engineering services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9845AA-2F0C-482A-615B-677B8B7E0DB0}"/>
              </a:ext>
            </a:extLst>
          </p:cNvPr>
          <p:cNvSpPr txBox="1"/>
          <p:nvPr/>
        </p:nvSpPr>
        <p:spPr>
          <a:xfrm>
            <a:off x="8196472" y="426539"/>
            <a:ext cx="3886750" cy="3069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indent="0" algn="ctr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b="1" i="1" kern="140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Procurement and supply services</a:t>
            </a:r>
          </a:p>
        </p:txBody>
      </p:sp>
    </p:spTree>
    <p:extLst>
      <p:ext uri="{BB962C8B-B14F-4D97-AF65-F5344CB8AC3E}">
        <p14:creationId xmlns:p14="http://schemas.microsoft.com/office/powerpoint/2010/main" val="177494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E1E8B-25BE-9F27-C0C3-658785F5A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33D3FB5-2193-E0C8-4B54-977B7AFA05D9}"/>
              </a:ext>
            </a:extLst>
          </p:cNvPr>
          <p:cNvGrpSpPr/>
          <p:nvPr/>
        </p:nvGrpSpPr>
        <p:grpSpPr>
          <a:xfrm>
            <a:off x="-11178" y="11972"/>
            <a:ext cx="12203178" cy="6846028"/>
            <a:chOff x="-11178" y="0"/>
            <a:chExt cx="12203178" cy="6846028"/>
          </a:xfrm>
          <a:solidFill>
            <a:schemeClr val="bg1">
              <a:lumMod val="95000"/>
            </a:schemeClr>
          </a:solidFill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DEDA618C-81D3-AF4E-25E0-37BAA1586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00" r="14762" b="13187"/>
            <a:stretch>
              <a:fillRect/>
            </a:stretch>
          </p:blipFill>
          <p:spPr>
            <a:xfrm>
              <a:off x="624116" y="11972"/>
              <a:ext cx="5196113" cy="2147284"/>
            </a:xfrm>
            <a:prstGeom prst="rect">
              <a:avLst/>
            </a:prstGeom>
            <a:grpFill/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F5B161F-E647-31C7-6909-4C63E3D8E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78" r="13163" b="15805"/>
            <a:stretch>
              <a:fillRect/>
            </a:stretch>
          </p:blipFill>
          <p:spPr>
            <a:xfrm>
              <a:off x="6462449" y="4755439"/>
              <a:ext cx="5139258" cy="2090589"/>
            </a:xfrm>
            <a:prstGeom prst="rect">
              <a:avLst/>
            </a:prstGeom>
            <a:grpFill/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BCD5CC07-66FC-691B-C4B9-EA8950809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38" r="13216"/>
            <a:stretch>
              <a:fillRect/>
            </a:stretch>
          </p:blipFill>
          <p:spPr>
            <a:xfrm>
              <a:off x="8599637" y="2728029"/>
              <a:ext cx="3592363" cy="1673309"/>
            </a:xfrm>
            <a:prstGeom prst="rect">
              <a:avLst/>
            </a:prstGeom>
            <a:grpFill/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A599A5E7-FE80-A457-591A-02FE22FD1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56" r="11140" b="13187"/>
            <a:stretch>
              <a:fillRect/>
            </a:stretch>
          </p:blipFill>
          <p:spPr>
            <a:xfrm>
              <a:off x="780757" y="4552311"/>
              <a:ext cx="5600855" cy="2293717"/>
            </a:xfrm>
            <a:prstGeom prst="rect">
              <a:avLst/>
            </a:prstGeom>
            <a:grpFill/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13375EB7-FE3F-C134-15FE-61C59BAC2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78" r="14124"/>
            <a:stretch>
              <a:fillRect/>
            </a:stretch>
          </p:blipFill>
          <p:spPr>
            <a:xfrm>
              <a:off x="6310125" y="0"/>
              <a:ext cx="4983193" cy="2413001"/>
            </a:xfrm>
            <a:prstGeom prst="rect">
              <a:avLst/>
            </a:prstGeom>
            <a:grpFill/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E81257-52E8-21B4-9E51-2025AC484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38" r="13216"/>
            <a:stretch>
              <a:fillRect/>
            </a:stretch>
          </p:blipFill>
          <p:spPr>
            <a:xfrm>
              <a:off x="4299818" y="2804878"/>
              <a:ext cx="3592363" cy="1673309"/>
            </a:xfrm>
            <a:prstGeom prst="rect">
              <a:avLst/>
            </a:prstGeom>
            <a:grpFill/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39CEA1-D24F-15C5-1F67-D657B74B5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38" r="13216"/>
            <a:stretch>
              <a:fillRect/>
            </a:stretch>
          </p:blipFill>
          <p:spPr>
            <a:xfrm>
              <a:off x="-11178" y="2834536"/>
              <a:ext cx="3592363" cy="1673309"/>
            </a:xfrm>
            <a:prstGeom prst="rect">
              <a:avLst/>
            </a:prstGeom>
            <a:grpFill/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AF91E93-681D-24FC-8161-71415696E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78" r="75270"/>
            <a:stretch>
              <a:fillRect/>
            </a:stretch>
          </p:blipFill>
          <p:spPr>
            <a:xfrm>
              <a:off x="11440925" y="11972"/>
              <a:ext cx="751075" cy="2413001"/>
            </a:xfrm>
            <a:prstGeom prst="rect">
              <a:avLst/>
            </a:prstGeom>
            <a:grpFill/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CFE7CBD-2D02-023E-BBDB-11B3DC886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78" r="74841" b="17599"/>
            <a:stretch>
              <a:fillRect/>
            </a:stretch>
          </p:blipFill>
          <p:spPr>
            <a:xfrm>
              <a:off x="11411243" y="4755439"/>
              <a:ext cx="780757" cy="1988337"/>
            </a:xfrm>
            <a:prstGeom prst="rect">
              <a:avLst/>
            </a:prstGeom>
            <a:grpFill/>
          </p:spPr>
        </p:pic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F1E46D6-D7A7-DF25-BD5F-7084037A26AF}"/>
              </a:ext>
            </a:extLst>
          </p:cNvPr>
          <p:cNvSpPr/>
          <p:nvPr/>
        </p:nvSpPr>
        <p:spPr>
          <a:xfrm>
            <a:off x="76999" y="813586"/>
            <a:ext cx="3941327" cy="142332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11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i="1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Unique Cross-Domain Ecosystem</a:t>
            </a:r>
            <a:r>
              <a:rPr lang="en-US" sz="1000" i="1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What sets AMT Systems Engineering SARL apart is our ability to break down silos. Traditional firms often specialize in just one area. We offer a unique selling point: a </a:t>
            </a:r>
            <a:r>
              <a:rPr lang="en-US" sz="1000" b="1" i="1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cross-connection between Hardware Engineering, Software Engineering, and Mechanical Engineering. </a:t>
            </a:r>
            <a:r>
              <a:rPr lang="en-US" sz="1000" i="1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</a:t>
            </a:r>
            <a:r>
              <a:rPr lang="en-US" sz="1000" b="1" i="1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  <a:r>
              <a:rPr lang="en-US" sz="1000" i="1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into this ecosystem, we link and enhance all these domains, delivering smart, innovative solutions from a single source.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F8137F1-929B-E5FC-C2AA-980677095218}"/>
              </a:ext>
            </a:extLst>
          </p:cNvPr>
          <p:cNvSpPr/>
          <p:nvPr/>
        </p:nvSpPr>
        <p:spPr>
          <a:xfrm>
            <a:off x="4134036" y="806760"/>
            <a:ext cx="3932286" cy="142332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11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i="1" kern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smart technology without the incorporation of IT-solutions. In today's rapidly advancing technological landscape, integrating Information Technology (IT) is crucial for creating smart and efficient solutions. At AMT Systems-Engineering SARL, we provide IT services that empower  the uniqueness of  potentials of your business, then making you be successful in the data-driven world.  Our IT solutions enable you to access, analyze, and interpret vast amounts of data. This insight allows for more informed decision-making, optimizing operations and strategies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B80120B-CB9D-D97B-025A-581C5FE860AC}"/>
              </a:ext>
            </a:extLst>
          </p:cNvPr>
          <p:cNvSpPr/>
          <p:nvPr/>
        </p:nvSpPr>
        <p:spPr>
          <a:xfrm>
            <a:off x="8179320" y="805325"/>
            <a:ext cx="3932286" cy="1423320"/>
          </a:xfrm>
          <a:prstGeom prst="roundRect">
            <a:avLst>
              <a:gd name="adj" fmla="val 14638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11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companies and institutions  increasingly focus on their core</a:t>
            </a:r>
          </a:p>
          <a:p>
            <a:pPr algn="ctr"/>
            <a:r>
              <a:rPr lang="en-US" sz="9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competencies, the demand for outsourcing secondary activities  like spare part procurement continues to rise. AMT Systems-Engineering SARL, a global player with associates worldwide, offers these</a:t>
            </a:r>
          </a:p>
          <a:p>
            <a:pPr algn="ctr"/>
            <a:r>
              <a:rPr lang="en-US" sz="9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 to its customers. Connecting  our business partners with potential suppliers or managing supplies on their behalf is a key aspect of our operations.</a:t>
            </a:r>
          </a:p>
          <a:p>
            <a:pPr algn="ctr"/>
            <a:r>
              <a:rPr lang="en-US" sz="9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Feel free to reach out: you have no risk in contacting us, only</a:t>
            </a:r>
          </a:p>
          <a:p>
            <a:pPr algn="ctr"/>
            <a:r>
              <a:rPr lang="en-US" sz="9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opportunity you might want to pursue!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2A887E-0A46-4AB2-5687-1F01EC96C97D}"/>
              </a:ext>
            </a:extLst>
          </p:cNvPr>
          <p:cNvSpPr txBox="1"/>
          <p:nvPr/>
        </p:nvSpPr>
        <p:spPr>
          <a:xfrm>
            <a:off x="3363310" y="98041"/>
            <a:ext cx="5598222" cy="368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b="1" kern="140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AMT SYSTEMS-ENGINEERING  SERVICES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2B3D8913-4871-E1C3-6FAE-CDC65E2E3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1291"/>
            <a:ext cx="67266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  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91FE2A5-4CD7-191C-FE6D-3C05D6EA3BEA}"/>
              </a:ext>
            </a:extLst>
          </p:cNvPr>
          <p:cNvSpPr/>
          <p:nvPr/>
        </p:nvSpPr>
        <p:spPr>
          <a:xfrm>
            <a:off x="8238701" y="2356978"/>
            <a:ext cx="3872905" cy="2974330"/>
          </a:xfrm>
          <a:prstGeom prst="roundRect">
            <a:avLst>
              <a:gd name="adj" fmla="val 13240"/>
            </a:avLst>
          </a:prstGeom>
          <a:solidFill>
            <a:schemeClr val="tx2">
              <a:lumMod val="75000"/>
              <a:lumOff val="2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3050" lvl="0" indent="-2730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i="1" kern="1400" dirty="0">
                <a:solidFill>
                  <a:schemeClr val="bg1"/>
                </a:solidFill>
                <a:latin typeface="Tahoma" panose="020B0604030504040204" pitchFamily="34" charset="0"/>
              </a:rPr>
              <a:t>Procurement services:</a:t>
            </a:r>
          </a:p>
          <a:p>
            <a:pPr marL="273050" lvl="0" indent="-27305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5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2438" indent="-273050" algn="just" fontAlgn="base">
              <a:lnSpc>
                <a:spcPct val="139000"/>
              </a:lnSpc>
              <a:spcBef>
                <a:spcPct val="0"/>
              </a:spcBef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Customer needs Identification &amp; Specification</a:t>
            </a:r>
          </a:p>
          <a:p>
            <a:pPr marL="452438" indent="-273050" algn="just" fontAlgn="base">
              <a:lnSpc>
                <a:spcPct val="139000"/>
              </a:lnSpc>
              <a:spcBef>
                <a:spcPct val="0"/>
              </a:spcBef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Supplier Identification &amp; Selection</a:t>
            </a:r>
          </a:p>
          <a:p>
            <a:pPr marL="452438" indent="-273050" algn="just" fontAlgn="base">
              <a:lnSpc>
                <a:spcPct val="139000"/>
              </a:lnSpc>
              <a:spcBef>
                <a:spcPct val="0"/>
              </a:spcBef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Supplier Relationship Management.</a:t>
            </a:r>
          </a:p>
          <a:p>
            <a:pPr marL="452438" indent="-273050" algn="just" fontAlgn="base">
              <a:lnSpc>
                <a:spcPct val="139000"/>
              </a:lnSpc>
              <a:spcBef>
                <a:spcPct val="0"/>
              </a:spcBef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 Risk Management in procurement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11458B1-6CEB-4387-6C8B-34E01C0BE2CD}"/>
              </a:ext>
            </a:extLst>
          </p:cNvPr>
          <p:cNvSpPr/>
          <p:nvPr/>
        </p:nvSpPr>
        <p:spPr>
          <a:xfrm>
            <a:off x="8238701" y="5428648"/>
            <a:ext cx="3813523" cy="1318524"/>
          </a:xfrm>
          <a:prstGeom prst="roundRect">
            <a:avLst>
              <a:gd name="adj" fmla="val 15182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 algn="just">
              <a:lnSpc>
                <a:spcPct val="139000"/>
              </a:lnSpc>
              <a:spcAft>
                <a:spcPts val="900"/>
              </a:spcAft>
            </a:pPr>
            <a:r>
              <a:rPr lang="en-US" sz="1600" b="1" i="1" kern="14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</a:rPr>
              <a:t>Supply management:</a:t>
            </a:r>
            <a:endParaRPr lang="en-US" sz="1200" b="1" kern="1400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</a:endParaRPr>
          </a:p>
          <a:p>
            <a:pPr marL="452438" lvl="0" indent="-273050" algn="just" fontAlgn="base">
              <a:lnSpc>
                <a:spcPct val="139000"/>
              </a:lnSpc>
              <a:spcBef>
                <a:spcPct val="0"/>
              </a:spcBef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altLang="en-US" sz="1200" b="1" kern="1400" dirty="0">
                <a:solidFill>
                  <a:srgbClr val="000000"/>
                </a:solidFill>
                <a:latin typeface="Tahoma" panose="020B0604030504040204" pitchFamily="34" charset="0"/>
              </a:rPr>
              <a:t>Inventory Management</a:t>
            </a:r>
          </a:p>
          <a:p>
            <a:pPr marL="452438" lvl="0" indent="-273050" algn="just" fontAlgn="base">
              <a:lnSpc>
                <a:spcPct val="139000"/>
              </a:lnSpc>
              <a:spcBef>
                <a:spcPct val="0"/>
              </a:spcBef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altLang="en-US" sz="1200" b="1" kern="1400" dirty="0">
                <a:solidFill>
                  <a:srgbClr val="000000"/>
                </a:solidFill>
                <a:latin typeface="Tahoma" panose="020B0604030504040204" pitchFamily="34" charset="0"/>
              </a:rPr>
              <a:t>Supply Chain Optimization</a:t>
            </a:r>
            <a:endParaRPr lang="en-US" sz="1200" b="1" kern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11B2F93-0E6A-79FA-3776-8747A99D42E4}"/>
              </a:ext>
            </a:extLst>
          </p:cNvPr>
          <p:cNvSpPr/>
          <p:nvPr/>
        </p:nvSpPr>
        <p:spPr>
          <a:xfrm>
            <a:off x="4192368" y="4823311"/>
            <a:ext cx="3813523" cy="1923862"/>
          </a:xfrm>
          <a:prstGeom prst="roundRect">
            <a:avLst>
              <a:gd name="adj" fmla="val 15182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39000"/>
              </a:lnSpc>
              <a:spcAft>
                <a:spcPts val="900"/>
              </a:spcAft>
            </a:pPr>
            <a:r>
              <a:rPr lang="en-US" sz="1600" b="1" i="1" kern="14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</a:rPr>
              <a:t>Data Engineering &amp; Analytics:</a:t>
            </a:r>
            <a:endParaRPr lang="en-US" sz="1600" i="1" kern="1400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</a:endParaRP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rgbClr val="000000"/>
                </a:solidFill>
                <a:latin typeface="Tahoma" panose="020B0604030504040204" pitchFamily="34" charset="0"/>
              </a:rPr>
              <a:t>Data acquisition and transformation </a:t>
            </a: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rgbClr val="000000"/>
                </a:solidFill>
                <a:latin typeface="Tahoma" panose="020B0604030504040204" pitchFamily="34" charset="0"/>
              </a:rPr>
              <a:t>Data analysis</a:t>
            </a:r>
            <a:r>
              <a:rPr lang="en-US" sz="1200" kern="1400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rgbClr val="000000"/>
                </a:solidFill>
                <a:latin typeface="Tahoma" panose="020B0604030504040204" pitchFamily="34" charset="0"/>
              </a:rPr>
              <a:t>Data modeling</a:t>
            </a:r>
            <a:endParaRPr lang="en-US" sz="1050" kern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16BCB7D-B19B-033E-C4A5-4D0078694234}"/>
              </a:ext>
            </a:extLst>
          </p:cNvPr>
          <p:cNvSpPr/>
          <p:nvPr/>
        </p:nvSpPr>
        <p:spPr>
          <a:xfrm>
            <a:off x="4192368" y="2368296"/>
            <a:ext cx="3813523" cy="2357675"/>
          </a:xfrm>
          <a:prstGeom prst="roundRect">
            <a:avLst>
              <a:gd name="adj" fmla="val 15182"/>
            </a:avLst>
          </a:prstGeom>
          <a:solidFill>
            <a:schemeClr val="tx2">
              <a:lumMod val="75000"/>
              <a:lumOff val="2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39000"/>
              </a:lnSpc>
              <a:spcAft>
                <a:spcPts val="900"/>
              </a:spcAft>
            </a:pPr>
            <a:r>
              <a:rPr lang="en-US" sz="1600" b="1" i="1" kern="1400" dirty="0">
                <a:solidFill>
                  <a:schemeClr val="bg1"/>
                </a:solidFill>
                <a:latin typeface="Tahoma" panose="020B0604030504040204" pitchFamily="34" charset="0"/>
              </a:rPr>
              <a:t>Web &amp; Mobile App Design</a:t>
            </a:r>
            <a:r>
              <a:rPr lang="en-US" sz="16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:</a:t>
            </a:r>
            <a:endParaRPr lang="en-US" sz="1600" kern="14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Mobile App Design</a:t>
            </a: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Embedded SW design</a:t>
            </a:r>
            <a:endParaRPr lang="en-US" sz="1200" kern="14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Web App Design</a:t>
            </a:r>
            <a:endParaRPr lang="en-US" sz="1200" kern="1400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4F14C89-6295-5FDF-E4DC-8301F5137D9F}"/>
              </a:ext>
            </a:extLst>
          </p:cNvPr>
          <p:cNvSpPr/>
          <p:nvPr/>
        </p:nvSpPr>
        <p:spPr>
          <a:xfrm>
            <a:off x="133986" y="4392088"/>
            <a:ext cx="3899297" cy="2357674"/>
          </a:xfrm>
          <a:prstGeom prst="roundRect">
            <a:avLst>
              <a:gd name="adj" fmla="val 15182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600" b="1" i="1" kern="14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</a:rPr>
              <a:t>Systems-Engineering services: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sz="600" b="1" i="1" kern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rgbClr val="000000"/>
                </a:solidFill>
                <a:latin typeface="Tahoma" panose="020B0604030504040204" pitchFamily="34" charset="0"/>
              </a:rPr>
              <a:t>Requirement engineering</a:t>
            </a: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rgbClr val="000000"/>
                </a:solidFill>
                <a:latin typeface="Tahoma" panose="020B0604030504040204" pitchFamily="34" charset="0"/>
              </a:rPr>
              <a:t>Architecture Design incl. technical implementation in HW /SW</a:t>
            </a: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rgbClr val="000000"/>
                </a:solidFill>
                <a:latin typeface="Tahoma" panose="020B0604030504040204" pitchFamily="34" charset="0"/>
              </a:rPr>
              <a:t>Verification and validation50</a:t>
            </a: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endParaRPr lang="en-US" sz="1200" b="1" kern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3A58425-009F-4A8B-C60B-9D452E0609DC}"/>
              </a:ext>
            </a:extLst>
          </p:cNvPr>
          <p:cNvSpPr/>
          <p:nvPr/>
        </p:nvSpPr>
        <p:spPr>
          <a:xfrm>
            <a:off x="133986" y="2362051"/>
            <a:ext cx="3899297" cy="1906553"/>
          </a:xfrm>
          <a:prstGeom prst="roundRect">
            <a:avLst>
              <a:gd name="adj" fmla="val 15182"/>
            </a:avLst>
          </a:prstGeom>
          <a:solidFill>
            <a:schemeClr val="tx2">
              <a:lumMod val="75000"/>
              <a:lumOff val="2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600" b="1" i="1" kern="1400" dirty="0">
                <a:solidFill>
                  <a:schemeClr val="bg1"/>
                </a:solidFill>
                <a:latin typeface="Tahoma" panose="020B0604030504040204" pitchFamily="34" charset="0"/>
              </a:rPr>
              <a:t>Prototyping, reverse engineering:</a:t>
            </a:r>
            <a:endParaRPr lang="en-US" sz="1600" b="1" kern="14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endParaRPr lang="en-US" sz="500" b="1" kern="14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CAD-modelling </a:t>
            </a: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3D-Printing and 3D scanning</a:t>
            </a:r>
            <a:endParaRPr lang="en-US" sz="1200" kern="14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marL="452438" marR="0" indent="-273050" algn="just">
              <a:lnSpc>
                <a:spcPct val="139000"/>
              </a:lnSpc>
              <a:spcAft>
                <a:spcPts val="900"/>
              </a:spcAft>
              <a:buFont typeface="Wingdings" panose="05000000000000000000" pitchFamily="2" charset="2"/>
              <a:buChar char="q"/>
            </a:pP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HW-Layout design &amp;</a:t>
            </a:r>
            <a:r>
              <a:rPr lang="en-US" sz="1200" kern="1400" dirty="0">
                <a:solidFill>
                  <a:schemeClr val="bg1"/>
                </a:solidFill>
                <a:latin typeface="Tahoma" panose="020B0604030504040204" pitchFamily="34" charset="0"/>
              </a:rPr>
              <a:t> </a:t>
            </a:r>
            <a:r>
              <a:rPr lang="en-US" sz="1200" b="1" kern="1400" dirty="0">
                <a:solidFill>
                  <a:schemeClr val="bg1"/>
                </a:solidFill>
                <a:latin typeface="Tahoma" panose="020B0604030504040204" pitchFamily="34" charset="0"/>
              </a:rPr>
              <a:t>PCB prototyping.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11C0AD-34D5-86CD-594E-E2058893152D}"/>
              </a:ext>
            </a:extLst>
          </p:cNvPr>
          <p:cNvSpPr txBox="1"/>
          <p:nvPr/>
        </p:nvSpPr>
        <p:spPr>
          <a:xfrm>
            <a:off x="133986" y="430692"/>
            <a:ext cx="7786838" cy="3069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indent="0" algn="ctr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b="1" i="1" kern="140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 Engineering services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244D48-AA29-7E9E-C9F1-2603956106CF}"/>
              </a:ext>
            </a:extLst>
          </p:cNvPr>
          <p:cNvSpPr txBox="1"/>
          <p:nvPr/>
        </p:nvSpPr>
        <p:spPr>
          <a:xfrm>
            <a:off x="8196472" y="426539"/>
            <a:ext cx="3886750" cy="3069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indent="0" algn="ctr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b="1" i="1" kern="140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Procurement and supply services</a:t>
            </a:r>
          </a:p>
        </p:txBody>
      </p:sp>
    </p:spTree>
    <p:extLst>
      <p:ext uri="{BB962C8B-B14F-4D97-AF65-F5344CB8AC3E}">
        <p14:creationId xmlns:p14="http://schemas.microsoft.com/office/powerpoint/2010/main" val="1111368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722</Words>
  <Application>Microsoft Office PowerPoint</Application>
  <PresentationFormat>Widescreen</PresentationFormat>
  <Paragraphs>78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Tahoma</vt:lpstr>
      <vt:lpstr>Times New Roman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Zambou Serge</dc:creator>
  <cp:lastModifiedBy>Zambou Serge</cp:lastModifiedBy>
  <cp:revision>2</cp:revision>
  <dcterms:created xsi:type="dcterms:W3CDTF">2026-02-11T21:12:04Z</dcterms:created>
  <dcterms:modified xsi:type="dcterms:W3CDTF">2026-04-22T21:31:47Z</dcterms:modified>
</cp:coreProperties>
</file>